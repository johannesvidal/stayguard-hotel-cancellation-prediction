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  <p:embeddedFont>
      <p:font typeface="Montserrat Light"/>
      <p:regular r:id="rId29"/>
      <p:bold r:id="rId30"/>
      <p:italic r:id="rId31"/>
      <p:boldItalic r:id="rId32"/>
    </p:embeddedFont>
    <p:embeddedFont>
      <p:font typeface="Newsread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25E03-251E-4D59-BF19-CC57504DA0DB}">
  <a:tblStyle styleId="{5B825E03-251E-4D59-BF19-CC57504DA0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Light-italic.fntdata"/><Relationship Id="rId30" Type="http://schemas.openxmlformats.org/officeDocument/2006/relationships/font" Target="fonts/MontserratLight-bold.fntdata"/><Relationship Id="rId11" Type="http://schemas.openxmlformats.org/officeDocument/2006/relationships/slide" Target="slides/slide5.xml"/><Relationship Id="rId33" Type="http://schemas.openxmlformats.org/officeDocument/2006/relationships/font" Target="fonts/Newsreader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Light-boldItalic.fntdata"/><Relationship Id="rId13" Type="http://schemas.openxmlformats.org/officeDocument/2006/relationships/slide" Target="slides/slide7.xml"/><Relationship Id="rId35" Type="http://schemas.openxmlformats.org/officeDocument/2006/relationships/font" Target="fonts/Newsreader-italic.fntdata"/><Relationship Id="rId12" Type="http://schemas.openxmlformats.org/officeDocument/2006/relationships/slide" Target="slides/slide6.xml"/><Relationship Id="rId34" Type="http://schemas.openxmlformats.org/officeDocument/2006/relationships/font" Target="fonts/Newsreader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Newsreader-boldItalic.fntdata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13534ef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13534ef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13534ef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13534ef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3534ef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3534ef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3534ef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13534ef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13534ef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13534ef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3534ef7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13534ef7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13534ef7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13534ef7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13534ef7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13534ef7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13534ef7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13534ef7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://github.com/JohannesVidal/stayguard-hotel-cancellation-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12 may 2026, 16_47_54 (2).png"/>
          <p:cNvPicPr preferRelativeResize="0"/>
          <p:nvPr/>
        </p:nvPicPr>
        <p:blipFill rotWithShape="1">
          <a:blip r:embed="rId3">
            <a:alphaModFix/>
          </a:blip>
          <a:srcRect b="18760" l="0" r="0" t="11632"/>
          <a:stretch/>
        </p:blipFill>
        <p:spPr>
          <a:xfrm>
            <a:off x="3148525" y="168938"/>
            <a:ext cx="2846950" cy="19817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1852277"/>
            <a:ext cx="8520600" cy="17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 sz="33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 sz="33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>
                <a:latin typeface="Montserrat"/>
                <a:ea typeface="Montserrat"/>
                <a:cs typeface="Montserrat"/>
                <a:sym typeface="Montserrat"/>
              </a:rPr>
              <a:t>Predicting Hotel Booking Cancellations with Machine Learning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523978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80">
                <a:latin typeface="Montserrat"/>
                <a:ea typeface="Montserrat"/>
                <a:cs typeface="Montserrat"/>
                <a:sym typeface="Montserrat"/>
              </a:rPr>
              <a:t>A data-driven solution to help hotels identify high-risk reservations before arrival</a:t>
            </a:r>
            <a:endParaRPr sz="198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41700" y="4377764"/>
            <a:ext cx="6660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Johannes Vidal</a:t>
            </a:r>
            <a:endParaRPr sz="18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ChatGPT Image 12 may 2026, 16_47_54 (1).png"/>
          <p:cNvPicPr preferRelativeResize="0"/>
          <p:nvPr/>
        </p:nvPicPr>
        <p:blipFill rotWithShape="1">
          <a:blip r:embed="rId3">
            <a:alphaModFix/>
          </a:blip>
          <a:srcRect b="0" l="560" r="-560" t="0"/>
          <a:stretch/>
        </p:blipFill>
        <p:spPr>
          <a:xfrm>
            <a:off x="4647926" y="393225"/>
            <a:ext cx="4357051" cy="43570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title"/>
          </p:nvPr>
        </p:nvSpPr>
        <p:spPr>
          <a:xfrm>
            <a:off x="75825" y="116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The Problem: </a:t>
            </a:r>
            <a:endParaRPr sz="2133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Cancellations Create Uncertainty</a:t>
            </a:r>
            <a:endParaRPr sz="225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14825" y="1064000"/>
            <a:ext cx="4319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Hotel cancellations affect more than one reservation. 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14825" y="4020124"/>
            <a:ext cx="45342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If hotels can identify high-risk bookings earlier, </a:t>
            </a:r>
            <a:b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they can make better operational and commercial decisions. 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14825" y="1637223"/>
            <a:ext cx="4170300" cy="23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They create uncertainty in:</a:t>
            </a:r>
            <a:b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Revenue forecasting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Occupancy planning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Staffing decisions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Pricing strategy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Overbooking management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32775" y="200800"/>
            <a:ext cx="75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From Reservation Data to Cancellation Prediction</a:t>
            </a:r>
            <a:endParaRPr sz="23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32775" y="990900"/>
            <a:ext cx="4544700" cy="4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Dataset: </a:t>
            </a:r>
            <a:endParaRPr sz="125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Hotel Reservations Classification Dataset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36,275 hotel bookings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19 original variables</a:t>
            </a: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Target: </a:t>
            </a: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Booking_status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Not_Canceled: 67.2%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Canceled: 32.8%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Prediction task:</a:t>
            </a:r>
            <a:endParaRPr sz="125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Will this booking be cancelled?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261600" y="990900"/>
            <a:ext cx="3184800" cy="12696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383025" y="1749036"/>
            <a:ext cx="2906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Output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Canceled / Not_Canceled</a:t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830563" y="2557250"/>
            <a:ext cx="2046900" cy="507300"/>
          </a:xfrm>
          <a:prstGeom prst="rect">
            <a:avLst/>
          </a:prstGeom>
          <a:solidFill>
            <a:srgbClr val="EDF3F5"/>
          </a:solidFill>
          <a:ln cap="flat" cmpd="sng" w="777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76" name="Google Shape;76;p15"/>
          <p:cNvSpPr txBox="1"/>
          <p:nvPr/>
        </p:nvSpPr>
        <p:spPr>
          <a:xfrm>
            <a:off x="5830575" y="2587513"/>
            <a:ext cx="2046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7">
                <a:solidFill>
                  <a:srgbClr val="173247"/>
                </a:solidFill>
              </a:rPr>
              <a:t>Booking Information</a:t>
            </a:r>
            <a:endParaRPr sz="1307">
              <a:solidFill>
                <a:srgbClr val="173247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830567" y="4192660"/>
            <a:ext cx="22809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830575" y="4318838"/>
            <a:ext cx="2046900" cy="507300"/>
          </a:xfrm>
          <a:prstGeom prst="rect">
            <a:avLst/>
          </a:prstGeom>
          <a:solidFill>
            <a:srgbClr val="EDF3F5"/>
          </a:solidFill>
          <a:ln cap="flat" cmpd="sng" w="777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79" name="Google Shape;79;p15"/>
          <p:cNvSpPr/>
          <p:nvPr/>
        </p:nvSpPr>
        <p:spPr>
          <a:xfrm>
            <a:off x="5849075" y="3453163"/>
            <a:ext cx="2046900" cy="507300"/>
          </a:xfrm>
          <a:prstGeom prst="rect">
            <a:avLst/>
          </a:prstGeom>
          <a:solidFill>
            <a:srgbClr val="35566B"/>
          </a:solidFill>
          <a:ln cap="flat" cmpd="sng" w="777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80" name="Google Shape;80;p15"/>
          <p:cNvSpPr txBox="1"/>
          <p:nvPr/>
        </p:nvSpPr>
        <p:spPr>
          <a:xfrm>
            <a:off x="5849075" y="3479438"/>
            <a:ext cx="20469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7">
                <a:solidFill>
                  <a:schemeClr val="lt1"/>
                </a:solidFill>
              </a:rPr>
              <a:t>Machine Learning Model </a:t>
            </a:r>
            <a:endParaRPr sz="1307"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830575" y="4314188"/>
            <a:ext cx="2046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7">
                <a:solidFill>
                  <a:srgbClr val="173247"/>
                </a:solidFill>
              </a:rPr>
              <a:t>Canceled / Not Canceled</a:t>
            </a:r>
            <a:endParaRPr sz="1307">
              <a:solidFill>
                <a:srgbClr val="173247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720875" y="3875288"/>
            <a:ext cx="303300" cy="507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732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702375" y="2984501"/>
            <a:ext cx="3033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732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298550" y="1026838"/>
            <a:ext cx="314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Input</a:t>
            </a:r>
            <a:endParaRPr sz="12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Booking details available before arrival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934075" y="3286420"/>
            <a:ext cx="211500" cy="700500"/>
          </a:xfrm>
          <a:prstGeom prst="rightBrace">
            <a:avLst>
              <a:gd fmla="val 43759" name="adj1"/>
              <a:gd fmla="val 50000" name="adj2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224975" y="3461175"/>
            <a:ext cx="2280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Moderately imbalanced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290075" y="2846950"/>
            <a:ext cx="39885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Special Requests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 requests: 43.2%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 requests: 14.6%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More special requests are linked to lower cancellation risk.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842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What Drives Booking Cancellations?</a:t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84200" y="500425"/>
            <a:ext cx="87228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EDA revealed clear patterns across booking timing and guest commitment.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50"/>
          </a:p>
        </p:txBody>
      </p:sp>
      <p:sp>
        <p:nvSpPr>
          <p:cNvPr id="94" name="Google Shape;94;p16"/>
          <p:cNvSpPr txBox="1"/>
          <p:nvPr/>
        </p:nvSpPr>
        <p:spPr>
          <a:xfrm>
            <a:off x="290075" y="976775"/>
            <a:ext cx="39885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Lead Time</a:t>
            </a:r>
            <a:endParaRPr sz="12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365+ days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95.1% cancellation rate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Bookings made further in advance are much more likely to cancel.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34775" y="4483100"/>
            <a:ext cx="45531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Cancellation risk is strongly linked to booking timing and guest commitment.</a:t>
            </a:r>
            <a:endParaRPr sz="12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8792"/>
          <a:stretch/>
        </p:blipFill>
        <p:spPr>
          <a:xfrm>
            <a:off x="4278575" y="976775"/>
            <a:ext cx="4713075" cy="18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12854" t="10169"/>
          <a:stretch/>
        </p:blipFill>
        <p:spPr>
          <a:xfrm>
            <a:off x="4687825" y="3063724"/>
            <a:ext cx="4119175" cy="207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4">
            <a:alphaModFix/>
          </a:blip>
          <a:srcRect b="91792" l="23178" r="14547" t="0"/>
          <a:stretch/>
        </p:blipFill>
        <p:spPr>
          <a:xfrm>
            <a:off x="5106075" y="2853724"/>
            <a:ext cx="3498725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91812" l="32505" r="24871" t="0"/>
          <a:stretch/>
        </p:blipFill>
        <p:spPr>
          <a:xfrm>
            <a:off x="5502075" y="808036"/>
            <a:ext cx="2706713" cy="2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300299" y="3296099"/>
            <a:ext cx="3419700" cy="1481700"/>
          </a:xfrm>
          <a:prstGeom prst="roundRect">
            <a:avLst>
              <a:gd fmla="val 9383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00299" y="1779574"/>
            <a:ext cx="3869700" cy="1124700"/>
          </a:xfrm>
          <a:prstGeom prst="roundRect">
            <a:avLst>
              <a:gd fmla="val 8989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00300" y="1779600"/>
            <a:ext cx="4114800" cy="29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1. Data Split</a:t>
            </a:r>
            <a:endParaRPr sz="125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80% training / 20% testing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Stratified split to preserve cancellation balance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2. Preprocessing Pipeline</a:t>
            </a:r>
            <a:endParaRPr sz="125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Numerical features → StandardScaler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Categorical features → OneHotEncoder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Booking_id removed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840649" y="1726685"/>
            <a:ext cx="3517200" cy="1530600"/>
          </a:xfrm>
          <a:prstGeom prst="roundRect">
            <a:avLst>
              <a:gd fmla="val 8989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4840649" y="3405660"/>
            <a:ext cx="3942900" cy="1481700"/>
          </a:xfrm>
          <a:prstGeom prst="roundRect">
            <a:avLst>
              <a:gd fmla="val 8989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840649" y="3405660"/>
            <a:ext cx="42891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Evaluation &amp; Optimization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Main metric: F1-score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Precision, recall and confusion matrix reviewed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GridSearchCV used for model tuning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71575" y="1115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Building a Reliable Cancellation Model</a:t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88950" y="923388"/>
            <a:ext cx="8694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All models were compared using the same preprocessing pipeline and test set.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840649" y="1744360"/>
            <a:ext cx="36228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Models Compared</a:t>
            </a:r>
            <a:endParaRPr sz="12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Logistic Regression         • Random Forest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Gradient Boosting           • Decision Tree 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KNN Classifier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45725" y="4777800"/>
            <a:ext cx="3419700" cy="280500"/>
          </a:xfrm>
          <a:prstGeom prst="roundRect">
            <a:avLst>
              <a:gd fmla="val 8989" name="adj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Fitting only with training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17" title="Dont en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25" y="4777800"/>
            <a:ext cx="280500" cy="280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17" title="Dont en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925" y="4777800"/>
            <a:ext cx="280500" cy="280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18"/>
          <p:cNvGraphicFramePr/>
          <p:nvPr/>
        </p:nvGraphicFramePr>
        <p:xfrm>
          <a:off x="173499" y="87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{5B825E03-251E-4D59-BF19-CC57504DA0DB}</a:tableStyleId>
              </a:tblPr>
              <a:tblGrid>
                <a:gridCol w="2870550"/>
                <a:gridCol w="1488550"/>
                <a:gridCol w="1488550"/>
                <a:gridCol w="1488550"/>
                <a:gridCol w="1488550"/>
              </a:tblGrid>
              <a:tr h="62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odel</a:t>
                      </a:r>
                      <a:endParaRPr b="1" sz="135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56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</a:t>
                      </a: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ccuracy</a:t>
                      </a:r>
                      <a:endParaRPr b="1" sz="135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56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recision</a:t>
                      </a:r>
                      <a:endParaRPr b="1" sz="135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56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</a:t>
                      </a: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ecall</a:t>
                      </a:r>
                      <a:endParaRPr b="1" sz="135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56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r>
                        <a:rPr b="1" lang="en" sz="135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Score</a:t>
                      </a:r>
                      <a:endParaRPr b="1" sz="135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566B"/>
                    </a:solidFill>
                  </a:tcPr>
                </a:tc>
              </a:tr>
              <a:tr h="40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Random Forest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D3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0.9068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D3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0.8882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D3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0.8187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D3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0.8520</a:t>
                      </a:r>
                      <a:endParaRPr sz="135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D3A3"/>
                    </a:solidFill>
                  </a:tcPr>
                </a:tc>
              </a:tr>
              <a:tr h="41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 Tree Tuned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0.8841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0.8328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0.8086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0.8205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KNN Tuned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0.8816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0.8401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0.7888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0.8136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</a:tr>
              <a:tr h="368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 Tree Baseline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0.8744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0.8109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0.8044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0.8076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KNN Baseline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0.8567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0.7996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0.7505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0.7743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</a:tr>
              <a:tr h="47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Gradient Boosting 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0.8584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0.8296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0.7148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.7679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8E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Logistic Regression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0.8143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0.7537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0.6437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0.6943</a:t>
                      </a:r>
                      <a:endParaRPr sz="13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18"/>
          <p:cNvSpPr txBox="1"/>
          <p:nvPr>
            <p:ph type="title"/>
          </p:nvPr>
        </p:nvSpPr>
        <p:spPr>
          <a:xfrm>
            <a:off x="63175" y="17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Comparing Model Performance</a:t>
            </a:r>
            <a:endParaRPr sz="27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59663" y="4476525"/>
            <a:ext cx="885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Random Forest</a:t>
            </a:r>
            <a:r>
              <a:rPr lang="en" sz="12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delivered the strongest balance between detecting cancellations and avoiding false alerts.</a:t>
            </a:r>
            <a:endParaRPr sz="12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0" y="9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Top Predictive Signals</a:t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175" y="663875"/>
            <a:ext cx="2535000" cy="14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 Medium"/>
                <a:ea typeface="Montserrat Medium"/>
                <a:cs typeface="Montserrat Medium"/>
                <a:sym typeface="Montserrat Medium"/>
              </a:rPr>
              <a:t>Lead time</a:t>
            </a: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 dominates the model:</a:t>
            </a: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Bookings made further in advance carry much higher cancellation risk.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280" y="796425"/>
            <a:ext cx="6795269" cy="37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72175" y="2109575"/>
            <a:ext cx="24714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Guest commitment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matters: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Special requests are an important signal of lower cancellation risk.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72175" y="3235625"/>
            <a:ext cx="2471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Price and timing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 context: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Room price and arrival timing help refine the prediction.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72175" y="4529250"/>
            <a:ext cx="65541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strongest model signals are consistent with the patterns found during EDA.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4805725" y="1065384"/>
            <a:ext cx="3342900" cy="2802600"/>
          </a:xfrm>
          <a:prstGeom prst="roundRect">
            <a:avLst>
              <a:gd fmla="val 8565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601425" y="1065376"/>
            <a:ext cx="3342900" cy="2802600"/>
          </a:xfrm>
          <a:prstGeom prst="roundRect">
            <a:avLst>
              <a:gd fmla="val 8565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200425" y="19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From Prediction to Hotel Decisions</a:t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08125" y="1232363"/>
            <a:ext cx="2929500" cy="27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  <a:t>Business Impact</a:t>
            </a:r>
            <a:br>
              <a:rPr lang="en" sz="125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250">
                <a:latin typeface="Montserrat Light"/>
                <a:ea typeface="Montserrat Light"/>
                <a:cs typeface="Montserrat Light"/>
                <a:sym typeface="Montserrat Light"/>
              </a:rPr>
              <a:t>How hotels can use StayGuard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Flag high-risk reservations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Improve occupancy planning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Support overbooking decisions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Prioritize guest communication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Reduce revenue uncertainty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/>
          </a:p>
        </p:txBody>
      </p:sp>
      <p:sp>
        <p:nvSpPr>
          <p:cNvPr id="141" name="Google Shape;141;p20"/>
          <p:cNvSpPr txBox="1"/>
          <p:nvPr/>
        </p:nvSpPr>
        <p:spPr>
          <a:xfrm>
            <a:off x="762175" y="4164275"/>
            <a:ext cx="73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5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StayGuard gives hotel managers an early risk signal, not an automatic decision.</a:t>
            </a:r>
            <a:endParaRPr sz="125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805725" y="1261775"/>
            <a:ext cx="3342900" cy="26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Limitations</a:t>
            </a:r>
            <a:b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25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What the model does not solve</a:t>
            </a:r>
            <a:br>
              <a:rPr lang="en" sz="12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sz="12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Predicts risk, not certainty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No external data included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Threshold depends on hotel strategy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• Results depend on dataset context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2523450" y="470150"/>
            <a:ext cx="409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Final Takeaway</a:t>
            </a:r>
            <a:endParaRPr sz="37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149850" y="1648267"/>
            <a:ext cx="8871300" cy="4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8">
                <a:latin typeface="Montserrat"/>
                <a:ea typeface="Montserrat"/>
                <a:cs typeface="Montserrat"/>
                <a:sym typeface="Montserrat"/>
              </a:rPr>
              <a:t>Cancellation risk is predictable when booking behavior is translated into data.</a:t>
            </a:r>
            <a:endParaRPr sz="150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59750" y="2315392"/>
            <a:ext cx="65574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Lead time: strongest cancellation signal</a:t>
            </a:r>
            <a:endParaRPr sz="16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Guest commitment: reduces cancellation risk</a:t>
            </a:r>
            <a:endParaRPr sz="16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Random Forest: delivered the best model performance</a:t>
            </a:r>
            <a:endParaRPr sz="16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50" y="4233550"/>
            <a:ext cx="9144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StayGuard helps hotels move from reacting to cancellations to anticipating them.</a:t>
            </a:r>
            <a:endParaRPr sz="17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 title="ChatGPT Image 12 may 2026, 16_47_54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550" y="0"/>
            <a:ext cx="2177101" cy="217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>
            <p:ph type="title"/>
          </p:nvPr>
        </p:nvSpPr>
        <p:spPr>
          <a:xfrm>
            <a:off x="377800" y="18465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2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77800" y="2419200"/>
            <a:ext cx="85206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Johannes Vidal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GitHub Repository: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github.com/JohannesVidal/stayguard-hotel-cancellation-prediction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